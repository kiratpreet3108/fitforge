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2025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502920"/>
            <a:ext cx="2560320" cy="2560320"/>
          </a:xfrm>
          <a:prstGeom prst="ellipse">
            <a:avLst/>
          </a:prstGeom>
          <a:ln w="1905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1005840"/>
            <a:ext cx="1554480" cy="1554480"/>
          </a:xfrm>
          <a:prstGeom prst="ellipse">
            <a:avLst/>
          </a:prstGeom>
          <a:ln w="19050">
            <a:solidFill>
              <a:srgbClr val="12B8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417320"/>
            <a:ext cx="731520" cy="73152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6" name="Shape 4"/>
          <p:cNvSpPr/>
          <p:nvPr/>
        </p:nvSpPr>
        <p:spPr>
          <a:xfrm>
            <a:off x="7269480" y="1645920"/>
            <a:ext cx="274320" cy="27432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7" name="Image 0" descr="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3371" y="1689811"/>
            <a:ext cx="186538" cy="186538"/>
          </a:xfrm>
          <a:prstGeom prst="rect">
            <a:avLst/>
          </a:prstGeom>
        </p:spPr>
      </p:pic>
      <p:pic>
        <p:nvPicPr>
          <p:cNvPr id="8" name="Image 1" descr="icons/target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6903720" y="3017520"/>
            <a:ext cx="173736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548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· SEMESTER PROJECT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960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Student Sports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&amp; Fitness Guidance Portal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502920" y="2606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Fitness Assessment and Coach-Guided Sports Recommendation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3337560"/>
            <a:ext cx="201168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2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Kiratpreet Kaur and Prisha Goyal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Fitness Data to Actionable Guidance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132A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14500"/>
            <a:ext cx="201168" cy="20116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621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27048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fitness assessment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90572"/>
            <a:ext cx="201168" cy="20116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722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disconnected records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866644"/>
            <a:ext cx="201168" cy="20116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483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679192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interpretation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442716"/>
            <a:ext cx="201168" cy="20116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44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255264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progress tracking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018788"/>
            <a:ext cx="201168" cy="201168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005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831336"/>
            <a:ext cx="3108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fitness-to-sport pathway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8503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 OBJECTIVES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25272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25272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125272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fitness assessment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98424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98424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198424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general fitness level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271576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7157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271576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sport recommendations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34472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44728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44728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coach in control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417880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1788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40680" y="417880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&amp; generate reports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Four Roles.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996696"/>
            <a:ext cx="512064" cy="512064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5" name="Image 0" descr="icons/c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545" y="1068385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63624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17830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Review · Approval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14600" y="8686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82696" y="996696"/>
            <a:ext cx="512064" cy="512064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10" name="Image 1" descr="icons/stud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385" y="106838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1563624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87752" y="17830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· Guidance · Progress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8686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31536" y="996696"/>
            <a:ext cx="512064" cy="512064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15" name="Image 2" descr="icons/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225" y="106838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1563624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36592" y="17830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Results Visibility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812280" y="8686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80376" y="996696"/>
            <a:ext cx="512064" cy="512064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20" name="Image 3" descr="icons/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065" y="106838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1563624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85432" y="17830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Analytics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2331720"/>
            <a:ext cx="8412480" cy="1691640"/>
          </a:xfrm>
          <a:prstGeom prst="roundRect">
            <a:avLst>
              <a:gd name="adj" fmla="val 5405"/>
            </a:avLst>
          </a:prstGeom>
          <a:solidFill>
            <a:srgbClr val="132A32"/>
          </a:solidFill>
          <a:ln/>
        </p:spPr>
      </p:sp>
      <p:sp>
        <p:nvSpPr>
          <p:cNvPr id="24" name="Text 18"/>
          <p:cNvSpPr/>
          <p:nvPr/>
        </p:nvSpPr>
        <p:spPr>
          <a:xfrm>
            <a:off x="594360" y="2478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15568" y="2862072"/>
            <a:ext cx="438912" cy="43891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26" name="Image 4" descr="icons/assess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016" y="2923520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33741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coach and student inputs</a:t>
            </a:r>
            <a:endParaRPr lang="en-US" sz="830" dirty="0"/>
          </a:p>
        </p:txBody>
      </p:sp>
      <p:sp>
        <p:nvSpPr>
          <p:cNvPr id="29" name="Text 22"/>
          <p:cNvSpPr/>
          <p:nvPr/>
        </p:nvSpPr>
        <p:spPr>
          <a:xfrm>
            <a:off x="2075688" y="2880360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2706624" y="2862072"/>
            <a:ext cx="438912" cy="43891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31" name="Image 5" descr="icons/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8072" y="2923520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185416" y="33741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139696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and surface insights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3666744" y="2880360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4297680" y="2862072"/>
            <a:ext cx="438912" cy="43891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36" name="Image 6" descr="icons/recomme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128" y="2923520"/>
            <a:ext cx="316017" cy="31601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776472" y="33741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3730752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suggested actions</a:t>
            </a:r>
            <a:endParaRPr lang="en-US" sz="830" dirty="0"/>
          </a:p>
        </p:txBody>
      </p:sp>
      <p:sp>
        <p:nvSpPr>
          <p:cNvPr id="39" name="Text 30"/>
          <p:cNvSpPr/>
          <p:nvPr/>
        </p:nvSpPr>
        <p:spPr>
          <a:xfrm>
            <a:off x="5257800" y="2880360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5888736" y="2862072"/>
            <a:ext cx="438912" cy="43891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41" name="Image 7" descr="icons/revie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0184" y="2923520"/>
            <a:ext cx="316017" cy="31601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67528" y="33741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Review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5321808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validates and adjusts plan</a:t>
            </a:r>
            <a:endParaRPr lang="en-US" sz="830" dirty="0"/>
          </a:p>
        </p:txBody>
      </p:sp>
      <p:sp>
        <p:nvSpPr>
          <p:cNvPr id="44" name="Text 34"/>
          <p:cNvSpPr/>
          <p:nvPr/>
        </p:nvSpPr>
        <p:spPr>
          <a:xfrm>
            <a:off x="6848856" y="2880360"/>
            <a:ext cx="12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5"/>
          <p:cNvSpPr/>
          <p:nvPr/>
        </p:nvSpPr>
        <p:spPr>
          <a:xfrm>
            <a:off x="7479792" y="2862072"/>
            <a:ext cx="438912" cy="43891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46" name="Image 8" descr="icons/guidan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1240" y="2923520"/>
            <a:ext cx="316017" cy="31601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58584" y="33741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50" dirty="0"/>
          </a:p>
        </p:txBody>
      </p:sp>
      <p:sp>
        <p:nvSpPr>
          <p:cNvPr id="48" name="Text 37"/>
          <p:cNvSpPr/>
          <p:nvPr/>
        </p:nvSpPr>
        <p:spPr>
          <a:xfrm>
            <a:off x="6912864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 receive plan</a:t>
            </a:r>
            <a:endParaRPr lang="en-US" sz="830" dirty="0"/>
          </a:p>
        </p:txBody>
      </p:sp>
      <p:sp>
        <p:nvSpPr>
          <p:cNvPr id="49" name="Shape 38"/>
          <p:cNvSpPr/>
          <p:nvPr/>
        </p:nvSpPr>
        <p:spPr>
          <a:xfrm>
            <a:off x="365760" y="4187952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E4F7EF"/>
          </a:solidFill>
          <a:ln/>
        </p:spPr>
      </p:sp>
      <p:sp>
        <p:nvSpPr>
          <p:cNvPr id="50" name="Text 39"/>
          <p:cNvSpPr/>
          <p:nvPr/>
        </p:nvSpPr>
        <p:spPr>
          <a:xfrm>
            <a:off x="548640" y="418795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assists the coach — it does not replace the coach."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52" name="Text 41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B7285"/>
          </a:solidFill>
          <a:ln/>
        </p:spPr>
      </p:sp>
      <p:sp>
        <p:nvSpPr>
          <p:cNvPr id="4" name="Shape 2"/>
          <p:cNvSpPr/>
          <p:nvPr/>
        </p:nvSpPr>
        <p:spPr>
          <a:xfrm>
            <a:off x="787908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5" name="Image 0" descr="icons/front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97" y="1187257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38912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03832" y="16002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776984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A5D6B"/>
          </a:solidFill>
          <a:ln/>
        </p:spPr>
      </p:sp>
      <p:sp>
        <p:nvSpPr>
          <p:cNvPr id="10" name="Shape 7"/>
          <p:cNvSpPr/>
          <p:nvPr/>
        </p:nvSpPr>
        <p:spPr>
          <a:xfrm>
            <a:off x="2199132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11" name="Image 1" descr="icons/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821" y="1187257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50136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850136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115056" y="16002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188208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B7285"/>
          </a:solidFill>
          <a:ln/>
        </p:spPr>
      </p:sp>
      <p:sp>
        <p:nvSpPr>
          <p:cNvPr id="16" name="Shape 12"/>
          <p:cNvSpPr/>
          <p:nvPr/>
        </p:nvSpPr>
        <p:spPr>
          <a:xfrm>
            <a:off x="3610356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17" name="Image 2" descr="icons/m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45" y="1187257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61360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ML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261360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26280" y="16002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4599432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A5D6B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1580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23" name="Image 3" descr="icons/pipe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69" y="1187257"/>
            <a:ext cx="368686" cy="3686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72584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672584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Recommendation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937504" y="16002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010656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B7285"/>
          </a:solidFill>
          <a:ln/>
        </p:spPr>
      </p:sp>
      <p:sp>
        <p:nvSpPr>
          <p:cNvPr id="28" name="Shape 22"/>
          <p:cNvSpPr/>
          <p:nvPr/>
        </p:nvSpPr>
        <p:spPr>
          <a:xfrm>
            <a:off x="6432804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29" name="Image 4" descr="icons/overs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493" y="1187257"/>
            <a:ext cx="368686" cy="36868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83808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083808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Approval Gate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348728" y="16002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7421880" y="914400"/>
            <a:ext cx="1356360" cy="2103120"/>
          </a:xfrm>
          <a:prstGeom prst="roundRect">
            <a:avLst>
              <a:gd name="adj" fmla="val 4045"/>
            </a:avLst>
          </a:prstGeom>
          <a:solidFill>
            <a:srgbClr val="0A5D6B"/>
          </a:solidFill>
          <a:ln/>
        </p:spPr>
      </p:sp>
      <p:sp>
        <p:nvSpPr>
          <p:cNvPr id="34" name="Shape 27"/>
          <p:cNvSpPr/>
          <p:nvPr/>
        </p:nvSpPr>
        <p:spPr>
          <a:xfrm>
            <a:off x="7844028" y="1115568"/>
            <a:ext cx="512064" cy="512064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35" name="Image 5" descr="icons/outpu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717" y="1187257"/>
            <a:ext cx="368686" cy="36868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495032" y="1783080"/>
            <a:ext cx="121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7495032" y="2331720"/>
            <a:ext cx="1210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Parent Guidance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36576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365760" y="3493008"/>
            <a:ext cx="2767584" cy="868680"/>
          </a:xfrm>
          <a:prstGeom prst="roundRect">
            <a:avLst>
              <a:gd name="adj" fmla="val 631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57200" y="3584448"/>
            <a:ext cx="2584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3877056"/>
            <a:ext cx="2584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3188208" y="3493008"/>
            <a:ext cx="2767584" cy="868680"/>
          </a:xfrm>
          <a:prstGeom prst="roundRect">
            <a:avLst>
              <a:gd name="adj" fmla="val 631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279648" y="3584448"/>
            <a:ext cx="2584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3279648" y="3877056"/>
            <a:ext cx="2584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6010656" y="3493008"/>
            <a:ext cx="2767584" cy="868680"/>
          </a:xfrm>
          <a:prstGeom prst="roundRect">
            <a:avLst>
              <a:gd name="adj" fmla="val 6316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102096" y="3584448"/>
            <a:ext cx="2584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102096" y="3877056"/>
            <a:ext cx="2584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SMOTE · Random Forest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Physical Assessment to AI Prediction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INPUTS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79576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795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179576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11795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733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673352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6733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Agility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671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16712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21671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609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Rating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66090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6609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Performance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1310640" cy="658368"/>
          </a:xfrm>
          <a:prstGeom prst="roundRect">
            <a:avLst>
              <a:gd name="adj" fmla="val 9722"/>
            </a:avLst>
          </a:prstGeom>
          <a:solidFill>
            <a:srgbClr val="132A3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82696"/>
            <a:ext cx="131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3666744"/>
            <a:ext cx="131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67840" y="3227832"/>
            <a:ext cx="1310640" cy="658368"/>
          </a:xfrm>
          <a:prstGeom prst="roundRect">
            <a:avLst>
              <a:gd name="adj" fmla="val 9722"/>
            </a:avLst>
          </a:prstGeom>
          <a:solidFill>
            <a:srgbClr val="132A32"/>
          </a:solidFill>
          <a:ln/>
        </p:spPr>
      </p:sp>
      <p:sp>
        <p:nvSpPr>
          <p:cNvPr id="24" name="Text 22"/>
          <p:cNvSpPr/>
          <p:nvPr/>
        </p:nvSpPr>
        <p:spPr>
          <a:xfrm>
            <a:off x="1767840" y="3282696"/>
            <a:ext cx="131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767840" y="3666744"/>
            <a:ext cx="131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69920" y="3227832"/>
            <a:ext cx="1310640" cy="658368"/>
          </a:xfrm>
          <a:prstGeom prst="roundRect">
            <a:avLst>
              <a:gd name="adj" fmla="val 9722"/>
            </a:avLst>
          </a:prstGeom>
          <a:solidFill>
            <a:srgbClr val="132A32"/>
          </a:solidFill>
          <a:ln/>
        </p:spPr>
      </p:sp>
      <p:sp>
        <p:nvSpPr>
          <p:cNvPr id="27" name="Text 25"/>
          <p:cNvSpPr/>
          <p:nvPr/>
        </p:nvSpPr>
        <p:spPr>
          <a:xfrm>
            <a:off x="3169920" y="3282696"/>
            <a:ext cx="131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169920" y="3666744"/>
            <a:ext cx="131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868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216152"/>
            <a:ext cx="3977640" cy="457200"/>
          </a:xfrm>
          <a:prstGeom prst="chevron">
            <a:avLst/>
          </a:prstGeom>
          <a:solidFill>
            <a:srgbClr val="0A5D6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2161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Data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00600" y="1746504"/>
            <a:ext cx="3977640" cy="457200"/>
          </a:xfrm>
          <a:prstGeom prst="chevron">
            <a:avLst/>
          </a:prstGeom>
          <a:solidFill>
            <a:srgbClr val="0B728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7465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00600" y="2276856"/>
            <a:ext cx="3977640" cy="457200"/>
          </a:xfrm>
          <a:prstGeom prst="chevron">
            <a:avLst/>
          </a:prstGeom>
          <a:solidFill>
            <a:srgbClr val="0E839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2768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00600" y="2807208"/>
            <a:ext cx="3977640" cy="457200"/>
          </a:xfrm>
          <a:prstGeom prst="chevron">
            <a:avLst/>
          </a:prstGeom>
          <a:solidFill>
            <a:srgbClr val="10AAB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8072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00600" y="3337560"/>
            <a:ext cx="3977640" cy="457200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00600" y="3913632"/>
            <a:ext cx="1277112" cy="502920"/>
          </a:xfrm>
          <a:prstGeom prst="roundRect">
            <a:avLst>
              <a:gd name="adj" fmla="val 12727"/>
            </a:avLst>
          </a:prstGeom>
          <a:solidFill>
            <a:srgbClr val="E4F7E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13632"/>
            <a:ext cx="1185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50864" y="3913632"/>
            <a:ext cx="1277112" cy="502920"/>
          </a:xfrm>
          <a:prstGeom prst="roundRect">
            <a:avLst>
              <a:gd name="adj" fmla="val 12727"/>
            </a:avLst>
          </a:prstGeom>
          <a:solidFill>
            <a:srgbClr val="E4F7E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6584" y="3913632"/>
            <a:ext cx="1185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Performer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01128" y="3913632"/>
            <a:ext cx="1277112" cy="502920"/>
          </a:xfrm>
          <a:prstGeom prst="roundRect">
            <a:avLst>
              <a:gd name="adj" fmla="val 12727"/>
            </a:avLst>
          </a:prstGeom>
          <a:solidFill>
            <a:srgbClr val="E4F7E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6848" y="3913632"/>
            <a:ext cx="1185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Performance — With Human Oversight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132A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41832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≈83%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435608"/>
            <a:ext cx="19888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888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Random Forest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91740" y="868680"/>
            <a:ext cx="1988820" cy="960120"/>
          </a:xfrm>
          <a:prstGeom prst="roundRect">
            <a:avLst>
              <a:gd name="adj" fmla="val 7619"/>
            </a:avLst>
          </a:prstGeom>
          <a:solidFill>
            <a:srgbClr val="132A32"/>
          </a:solidFill>
          <a:ln/>
        </p:spPr>
      </p:sp>
      <p:sp>
        <p:nvSpPr>
          <p:cNvPr id="8" name="Text 6"/>
          <p:cNvSpPr/>
          <p:nvPr/>
        </p:nvSpPr>
        <p:spPr>
          <a:xfrm>
            <a:off x="2491740" y="941832"/>
            <a:ext cx="1988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91740" y="1435608"/>
            <a:ext cx="19888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91740" y="1627632"/>
            <a:ext cx="19888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classes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SMOTE + 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95144"/>
            <a:ext cx="82296" cy="82296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9456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balance minority class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82296" cy="82296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0545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Leakage-controlled feature selection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2916936"/>
            <a:ext cx="82296" cy="82296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8163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 with confidence score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227832"/>
            <a:ext cx="82296" cy="82296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2724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override always available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2D9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685032"/>
            <a:ext cx="310896" cy="310896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2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" y="3731666"/>
            <a:ext cx="217627" cy="2176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6112" y="36301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7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 recall remains limited because the class is underrepresented in the current dataset. Coach oversight is essential.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09160" y="86868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09160" y="1179576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0B7285"/>
          </a:solidFill>
          <a:ln/>
        </p:spPr>
      </p:sp>
      <p:sp>
        <p:nvSpPr>
          <p:cNvPr id="26" name="Shape 23"/>
          <p:cNvSpPr/>
          <p:nvPr/>
        </p:nvSpPr>
        <p:spPr>
          <a:xfrm>
            <a:off x="4837176" y="1307592"/>
            <a:ext cx="457200" cy="45720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27" name="Image 1" descr="icons/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37160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22392" y="12710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22392" y="15453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class label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606540" y="187452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709160" y="198424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0A5D6B"/>
          </a:solidFill>
          <a:ln/>
        </p:spPr>
      </p:sp>
      <p:sp>
        <p:nvSpPr>
          <p:cNvPr id="32" name="Shape 28"/>
          <p:cNvSpPr/>
          <p:nvPr/>
        </p:nvSpPr>
        <p:spPr>
          <a:xfrm>
            <a:off x="4837176" y="2112264"/>
            <a:ext cx="457200" cy="45720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33" name="Image 2" descr="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2176272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22392" y="20756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5422392" y="23500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prediction certainty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606540" y="267919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4709160" y="2788920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0B7285"/>
          </a:solidFill>
          <a:ln/>
        </p:spPr>
      </p:sp>
      <p:sp>
        <p:nvSpPr>
          <p:cNvPr id="38" name="Shape 33"/>
          <p:cNvSpPr/>
          <p:nvPr/>
        </p:nvSpPr>
        <p:spPr>
          <a:xfrm>
            <a:off x="4837176" y="2916936"/>
            <a:ext cx="457200" cy="45720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39" name="Image 3" descr="icons/re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980944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22392" y="2880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Review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5422392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override model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606540" y="348386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4709160" y="3593592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0A5D6B"/>
          </a:solidFill>
          <a:ln/>
        </p:spPr>
      </p:sp>
      <p:sp>
        <p:nvSpPr>
          <p:cNvPr id="44" name="Shape 38"/>
          <p:cNvSpPr/>
          <p:nvPr/>
        </p:nvSpPr>
        <p:spPr>
          <a:xfrm>
            <a:off x="4837176" y="3721608"/>
            <a:ext cx="457200" cy="45720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45" name="Image 4" descr="icons/guid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3785616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422392" y="36850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50" dirty="0"/>
          </a:p>
        </p:txBody>
      </p:sp>
      <p:sp>
        <p:nvSpPr>
          <p:cNvPr id="47" name="Text 40"/>
          <p:cNvSpPr/>
          <p:nvPr/>
        </p:nvSpPr>
        <p:spPr>
          <a:xfrm>
            <a:off x="5422392" y="39593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student and parent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4709160" y="4416552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E4F7EF"/>
          </a:solidFill>
          <a:ln/>
        </p:spPr>
      </p:sp>
      <p:sp>
        <p:nvSpPr>
          <p:cNvPr id="49" name="Text 42"/>
          <p:cNvSpPr/>
          <p:nvPr/>
        </p:nvSpPr>
        <p:spPr>
          <a:xfrm>
            <a:off x="4709160" y="441655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recommends. The coach decides."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User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B7285"/>
          </a:solidFill>
          <a:ln/>
        </p:spPr>
      </p:sp>
      <p:sp>
        <p:nvSpPr>
          <p:cNvPr id="4" name="Shape 2"/>
          <p:cNvSpPr/>
          <p:nvPr/>
        </p:nvSpPr>
        <p:spPr>
          <a:xfrm>
            <a:off x="1840230" y="81381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4023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7275" y="112471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7" name="Image 0" descr="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085" y="1201522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199339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Login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79142" y="161391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526030" y="96012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B7285"/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0" y="81381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17545" y="112471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14" name="Image 1" descr="icons/assess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55" y="1201522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99182" y="199339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Assessment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39412" y="161391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686300" y="96012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B7285"/>
          </a:solidFill>
          <a:ln/>
        </p:spPr>
      </p:sp>
      <p:sp>
        <p:nvSpPr>
          <p:cNvPr id="18" name="Shape 14"/>
          <p:cNvSpPr/>
          <p:nvPr/>
        </p:nvSpPr>
        <p:spPr>
          <a:xfrm>
            <a:off x="6160770" y="81381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6077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77815" y="112471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21" name="Image 2" descr="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25" y="1201522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9452" y="199339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599682" y="161391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846570" y="96012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B7285"/>
          </a:solidFill>
          <a:ln/>
        </p:spPr>
      </p:sp>
      <p:sp>
        <p:nvSpPr>
          <p:cNvPr id="25" name="Shape 20"/>
          <p:cNvSpPr/>
          <p:nvPr/>
        </p:nvSpPr>
        <p:spPr>
          <a:xfrm>
            <a:off x="8321040" y="81381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21040" y="813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538085" y="112471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28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895" y="1201522"/>
            <a:ext cx="395021" cy="39502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19722" y="199339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Recommendation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675245" y="25786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846570" y="306324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A5D6B"/>
          </a:solidFill>
          <a:ln/>
        </p:spPr>
      </p:sp>
      <p:sp>
        <p:nvSpPr>
          <p:cNvPr id="32" name="Shape 26"/>
          <p:cNvSpPr/>
          <p:nvPr/>
        </p:nvSpPr>
        <p:spPr>
          <a:xfrm>
            <a:off x="8321040" y="291693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32104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7538085" y="322783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35" name="Image 4" descr="icons/appro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895" y="3304642"/>
            <a:ext cx="395021" cy="39502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19722" y="409651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Approval / Override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 rot="10800000">
            <a:off x="6636258" y="371703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4686300" y="306324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A5D6B"/>
          </a:solidFill>
          <a:ln/>
        </p:spPr>
      </p:sp>
      <p:sp>
        <p:nvSpPr>
          <p:cNvPr id="39" name="Shape 32"/>
          <p:cNvSpPr/>
          <p:nvPr/>
        </p:nvSpPr>
        <p:spPr>
          <a:xfrm>
            <a:off x="6160770" y="291693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16077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5377815" y="322783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42" name="Image 5" descr="icons/guid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625" y="3304642"/>
            <a:ext cx="395021" cy="39502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759452" y="409651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 Guidance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 rot="10800000">
            <a:off x="4475988" y="371703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2526030" y="306324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A5D6B"/>
          </a:solidFill>
          <a:ln/>
        </p:spPr>
      </p:sp>
      <p:sp>
        <p:nvSpPr>
          <p:cNvPr id="46" name="Shape 38"/>
          <p:cNvSpPr/>
          <p:nvPr/>
        </p:nvSpPr>
        <p:spPr>
          <a:xfrm>
            <a:off x="4000500" y="291693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00050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3217545" y="322783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49" name="Image 6" descr="icons/progre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4355" y="3304642"/>
            <a:ext cx="395021" cy="395021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2599182" y="409651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 rot="10800000">
            <a:off x="2315718" y="371703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43"/>
          <p:cNvSpPr/>
          <p:nvPr/>
        </p:nvSpPr>
        <p:spPr>
          <a:xfrm>
            <a:off x="365760" y="3063240"/>
            <a:ext cx="1931670" cy="1600200"/>
          </a:xfrm>
          <a:prstGeom prst="roundRect">
            <a:avLst>
              <a:gd name="adj" fmla="val 4571"/>
            </a:avLst>
          </a:prstGeom>
          <a:solidFill>
            <a:srgbClr val="0A5D6B"/>
          </a:solidFill>
          <a:ln/>
        </p:spPr>
      </p:sp>
      <p:sp>
        <p:nvSpPr>
          <p:cNvPr id="53" name="Shape 44"/>
          <p:cNvSpPr/>
          <p:nvPr/>
        </p:nvSpPr>
        <p:spPr>
          <a:xfrm>
            <a:off x="1840230" y="2916936"/>
            <a:ext cx="384048" cy="384048"/>
          </a:xfrm>
          <a:prstGeom prst="ellipse">
            <a:avLst/>
          </a:prstGeom>
          <a:solidFill>
            <a:srgbClr val="132A3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184023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Shape 46"/>
          <p:cNvSpPr/>
          <p:nvPr/>
        </p:nvSpPr>
        <p:spPr>
          <a:xfrm>
            <a:off x="1057275" y="3227832"/>
            <a:ext cx="548640" cy="548640"/>
          </a:xfrm>
          <a:prstGeom prst="ellipse">
            <a:avLst/>
          </a:prstGeom>
          <a:solidFill>
            <a:srgbClr val="0D2025"/>
          </a:solidFill>
          <a:ln/>
        </p:spPr>
      </p:sp>
      <p:pic>
        <p:nvPicPr>
          <p:cNvPr id="56" name="Image 7" descr="icons/pd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4085" y="3304642"/>
            <a:ext cx="395021" cy="395021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438912" y="4096512"/>
            <a:ext cx="178536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Fitness Report</a:t>
            </a:r>
            <a:endParaRPr lang="en-US" sz="1100" dirty="0"/>
          </a:p>
        </p:txBody>
      </p:sp>
      <p:sp>
        <p:nvSpPr>
          <p:cNvPr id="58" name="Text 48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59" name="Text 49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— 12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16152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216152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12161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Frontend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2980944" y="1216152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216152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2161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Assessment UI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78308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17830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2980944" y="1783080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1783080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5000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" y="23500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Integration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2980944" y="2350008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2350008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3500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Prediction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65760" y="2916936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1693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" y="29169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2980944" y="2916936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54096" y="2916936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29169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Recommendation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483864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" y="348386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Approval/Override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2980944" y="3483864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54096" y="3483864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48386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Student/Parent View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050792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" y="40507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2980944" y="4050792"/>
            <a:ext cx="2505456" cy="475488"/>
          </a:xfrm>
          <a:prstGeom prst="roundRect">
            <a:avLst>
              <a:gd name="adj" fmla="val 11538"/>
            </a:avLst>
          </a:prstGeom>
          <a:solidFill>
            <a:srgbClr val="E4F7EF"/>
          </a:solidFill>
          <a:ln w="9525">
            <a:solidFill>
              <a:srgbClr val="12B8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54096" y="4050792"/>
            <a:ext cx="27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40507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Fitness Report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669280" y="868680"/>
            <a:ext cx="3108960" cy="3794760"/>
          </a:xfrm>
          <a:prstGeom prst="roundRect">
            <a:avLst>
              <a:gd name="adj" fmla="val 2941"/>
            </a:avLst>
          </a:prstGeom>
          <a:solidFill>
            <a:srgbClr val="132A32"/>
          </a:solidFill>
          <a:ln/>
        </p:spPr>
      </p:sp>
      <p:sp>
        <p:nvSpPr>
          <p:cNvPr id="41" name="Text 39"/>
          <p:cNvSpPr/>
          <p:nvPr/>
        </p:nvSpPr>
        <p:spPr>
          <a:xfrm>
            <a:off x="5870448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REMAINING INTEGRATION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70448" y="1490472"/>
            <a:ext cx="2706624" cy="960120"/>
          </a:xfrm>
          <a:prstGeom prst="roundRect">
            <a:avLst>
              <a:gd name="adj" fmla="val 6667"/>
            </a:avLst>
          </a:prstGeom>
          <a:solidFill>
            <a:srgbClr val="0D202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16184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Integration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350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70448" y="2560320"/>
            <a:ext cx="2706624" cy="960120"/>
          </a:xfrm>
          <a:prstGeom prst="roundRect">
            <a:avLst>
              <a:gd name="adj" fmla="val 6667"/>
            </a:avLst>
          </a:prstGeom>
          <a:solidFill>
            <a:srgbClr val="0D202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268833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&amp; QA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3504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70448" y="3630168"/>
            <a:ext cx="2706624" cy="960120"/>
          </a:xfrm>
          <a:prstGeom prst="roundRect">
            <a:avLst>
              <a:gd name="adj" fmla="val 6667"/>
            </a:avLst>
          </a:prstGeom>
          <a:solidFill>
            <a:srgbClr val="0D202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75818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35040" y="41056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environment setup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Limits → Future Possibilities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97864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07592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class imbalance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655064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High Performer examples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221992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331720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predictions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79192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deterministic outcomes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355848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oversight required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7033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act autonomously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868680"/>
            <a:ext cx="4800600" cy="3337560"/>
          </a:xfrm>
          <a:prstGeom prst="roundRect">
            <a:avLst>
              <a:gd name="adj" fmla="val 2740"/>
            </a:avLst>
          </a:prstGeom>
          <a:solidFill>
            <a:srgbClr val="F1F6F5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014984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33672" y="1408176"/>
            <a:ext cx="384048" cy="38404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/>
          <p:nvPr/>
        </p:nvSpPr>
        <p:spPr>
          <a:xfrm>
            <a:off x="4233672" y="1408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27448" y="138074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807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Athleticism Screening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70248" y="1837944"/>
            <a:ext cx="3108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33672" y="1956816"/>
            <a:ext cx="384048" cy="38404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Text 19"/>
          <p:cNvSpPr/>
          <p:nvPr/>
        </p:nvSpPr>
        <p:spPr>
          <a:xfrm>
            <a:off x="4233672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27448" y="192938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9293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Sport-Specific KPI Tracking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70248" y="2386584"/>
            <a:ext cx="3108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3672" y="2505456"/>
            <a:ext cx="384048" cy="38404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6" name="Text 24"/>
          <p:cNvSpPr/>
          <p:nvPr/>
        </p:nvSpPr>
        <p:spPr>
          <a:xfrm>
            <a:off x="4233672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27448" y="247802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478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Progress Tracking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70248" y="2935224"/>
            <a:ext cx="3108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33672" y="3054096"/>
            <a:ext cx="384048" cy="38404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1" name="Text 29"/>
          <p:cNvSpPr/>
          <p:nvPr/>
        </p:nvSpPr>
        <p:spPr>
          <a:xfrm>
            <a:off x="4233672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27448" y="302666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0266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Predictive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70248" y="3483864"/>
            <a:ext cx="3108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33672" y="3602736"/>
            <a:ext cx="384048" cy="38404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6" name="Text 34"/>
          <p:cNvSpPr/>
          <p:nvPr/>
        </p:nvSpPr>
        <p:spPr>
          <a:xfrm>
            <a:off x="4233672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727448" y="357530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5753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Talent Identification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334256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E4F7E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A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Sport-specific KPI tracking and progression forecasting are FUTURE SCOPE — not currently implemented.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22000" y="457200"/>
            <a:ext cx="1500000" cy="1500000"/>
          </a:xfrm>
          <a:prstGeom prst="ellipse">
            <a:avLst/>
          </a:prstGeom>
          <a:ln w="19050">
            <a:solidFill>
              <a:srgbClr val="0B72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22000" y="757200"/>
            <a:ext cx="900000" cy="900000"/>
          </a:xfrm>
          <a:prstGeom prst="ellipse">
            <a:avLst/>
          </a:prstGeom>
          <a:ln w="19050">
            <a:solidFill>
              <a:srgbClr val="12B8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62000" y="997200"/>
            <a:ext cx="420000" cy="42000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5" name="Image 0" descr="icons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000" y="1097200"/>
            <a:ext cx="220000" cy="22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140000"/>
            <a:ext cx="8412480" cy="8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65760" y="2970000"/>
            <a:ext cx="8412480" cy="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3650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· Semester Project · Thapar Institute of Engineering and 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Student Sports Talent &amp; Fitness Guidance Portal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2026-09-13T16:17:03Z</dcterms:created>
  <dcterms:modified xsi:type="dcterms:W3CDTF">2026-09-13T16:17:03Z</dcterms:modified>
</cp:coreProperties>
</file>